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5486400" cy="5486400"/>
          </a:xfrm>
          <a:prstGeom prst="ellipse">
            <a:avLst/>
          </a:prstGeom>
          <a:solidFill>
            <a:srgbClr val="1C2E14"/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3840480"/>
            <a:ext cx="5943600" cy="5943600"/>
          </a:xfrm>
          <a:prstGeom prst="ellipse">
            <a:avLst/>
          </a:prstGeom>
          <a:solidFill>
            <a:srgbClr val="1C2E14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371600"/>
            <a:ext cx="1219169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dirty="0">
                <a:solidFill>
                  <a:srgbClr val="000000"/>
                </a:solidFill>
              </a:rPr>
              <a:t>🦉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0" y="2743200"/>
            <a:ext cx="12191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58CC0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Duodingo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0" y="37490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CDE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Apprends à coder, une leçon à la fois.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0" y="448056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mobile .NET MAUI  ·  inspirée de Duolingo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Ryad Senhadji   ·   16 juin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CC0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PRÉSENTATION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concept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Duolingo a rendu l’apprentissage des langues </a:t>
            </a:r>
            <a:pPr indent="0" marL="0">
              <a:buNone/>
            </a:pPr>
            <a:r>
              <a:rPr lang="en-US" sz="2000" b="1" dirty="0">
                <a:solidFill>
                  <a:srgbClr val="3C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addictif</a:t>
            </a:r>
            <a:pPr indent="0" marL="0">
              <a:buNone/>
            </a:pPr>
            <a:r>
              <a:rPr lang="en-US" sz="20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grâce à la gamification.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Duodingo applique la même recette à l’apprentissage du code : des leçons courtes, interactives et récompensées, qui transforment la programmation en jeu quotidien.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4206240"/>
            <a:ext cx="1051560" cy="1188720"/>
          </a:xfrm>
          <a:prstGeom prst="roundRect">
            <a:avLst>
              <a:gd name="adj" fmla="val 8696"/>
            </a:avLst>
          </a:prstGeom>
          <a:solidFill>
            <a:srgbClr val="F4F8EE"/>
          </a:solidFill>
          <a:ln w="12700">
            <a:solidFill>
              <a:srgbClr val="E8ED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3434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🟨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4983480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755648" y="4206240"/>
            <a:ext cx="1051560" cy="1188720"/>
          </a:xfrm>
          <a:prstGeom prst="roundRect">
            <a:avLst>
              <a:gd name="adj" fmla="val 8696"/>
            </a:avLst>
          </a:prstGeom>
          <a:solidFill>
            <a:srgbClr val="F4F8EE"/>
          </a:solidFill>
          <a:ln w="12700">
            <a:solidFill>
              <a:srgbClr val="E8ED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55648" y="43434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🐍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755648" y="4983480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62656" y="4206240"/>
            <a:ext cx="1051560" cy="1188720"/>
          </a:xfrm>
          <a:prstGeom prst="roundRect">
            <a:avLst>
              <a:gd name="adj" fmla="val 8696"/>
            </a:avLst>
          </a:prstGeom>
          <a:solidFill>
            <a:srgbClr val="F4F8EE"/>
          </a:solidFill>
          <a:ln w="12700">
            <a:solidFill>
              <a:srgbClr val="E8ED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62656" y="43434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🌐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962656" y="4983480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69664" y="4206240"/>
            <a:ext cx="1051560" cy="1188720"/>
          </a:xfrm>
          <a:prstGeom prst="roundRect">
            <a:avLst>
              <a:gd name="adj" fmla="val 8696"/>
            </a:avLst>
          </a:prstGeom>
          <a:solidFill>
            <a:srgbClr val="F4F8EE"/>
          </a:solidFill>
          <a:ln w="12700">
            <a:solidFill>
              <a:srgbClr val="E8ED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69664" y="43434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🗄️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169664" y="4983480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76672" y="4206240"/>
            <a:ext cx="1051560" cy="1188720"/>
          </a:xfrm>
          <a:prstGeom prst="roundRect">
            <a:avLst>
              <a:gd name="adj" fmla="val 8696"/>
            </a:avLst>
          </a:prstGeom>
          <a:solidFill>
            <a:srgbClr val="F4F8EE"/>
          </a:solidFill>
          <a:ln w="12700">
            <a:solidFill>
              <a:srgbClr val="E8ED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76672" y="43434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🔷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5376672" y="4983480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818120" y="1051560"/>
            <a:ext cx="2395728" cy="5212080"/>
          </a:xfrm>
          <a:prstGeom prst="roundRect">
            <a:avLst>
              <a:gd name="adj" fmla="val 4580"/>
            </a:avLst>
          </a:prstGeom>
          <a:solidFill>
            <a:srgbClr val="131F0E"/>
          </a:solidFill>
          <a:ln/>
          <a:effectLst>
            <a:outerShdw sx="100000" sy="100000" kx="0" ky="0" algn="bl" rotWithShape="0" blurRad="101600" dist="38100" dir="5400000">
              <a:srgbClr val="9AA791">
                <a:alpha val="50000"/>
              </a:srgbClr>
            </a:outerShdw>
          </a:effectLst>
        </p:spPr>
      </p:sp>
      <p:pic>
        <p:nvPicPr>
          <p:cNvPr id="22" name="Image 0" descr="/Users/invite/Desktop/Duodingo/docs/screens/small/03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097280"/>
            <a:ext cx="2304288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CC0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Objectifs du projet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4F8EE"/>
          </a:solidFill>
          <a:ln w="12700">
            <a:solidFill>
              <a:srgbClr val="E8EDE0"/>
            </a:solidFill>
            <a:prstDash val="solid"/>
          </a:ln>
          <a:effectLst>
            <a:outerShdw sx="100000" sy="100000" kx="0" ky="0" algn="bl" rotWithShape="0" blurRad="76200" dist="25400" dir="5400000">
              <a:srgbClr val="C9D2BC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58CC0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21408"/>
            <a:ext cx="914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🎯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011680" y="20574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1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Accessible aux débutants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011680" y="256032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prérequis : on apprend en jouant.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4F8EE"/>
          </a:solidFill>
          <a:ln w="12700">
            <a:solidFill>
              <a:srgbClr val="E8EDE0"/>
            </a:solidFill>
            <a:prstDash val="solid"/>
          </a:ln>
          <a:effectLst>
            <a:outerShdw sx="100000" sy="100000" kx="0" ky="0" algn="bl" rotWithShape="0" blurRad="76200" dist="25400" dir="5400000">
              <a:srgbClr val="C9D2BC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2057400"/>
            <a:ext cx="914400" cy="914400"/>
          </a:xfrm>
          <a:prstGeom prst="ellipse">
            <a:avLst/>
          </a:prstGeom>
          <a:solidFill>
            <a:srgbClr val="58CC02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121408"/>
            <a:ext cx="914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🔥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7680960" y="20574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1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Motiver la pratique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680960" y="256032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Séries, XP et défis quotidiens pour revenir chaque jour.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4F8EE"/>
          </a:solidFill>
          <a:ln w="12700">
            <a:solidFill>
              <a:srgbClr val="E8EDE0"/>
            </a:solidFill>
            <a:prstDash val="solid"/>
          </a:ln>
          <a:effectLst>
            <a:outerShdw sx="100000" sy="100000" kx="0" ky="0" algn="bl" rotWithShape="0" blurRad="76200" dist="25400" dir="5400000">
              <a:srgbClr val="C9D2BC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251960"/>
            <a:ext cx="914400" cy="914400"/>
          </a:xfrm>
          <a:prstGeom prst="ellipse">
            <a:avLst/>
          </a:prstGeom>
          <a:solidFill>
            <a:srgbClr val="58CC02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315968"/>
            <a:ext cx="914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📚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011680" y="4251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1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Progression structurée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011680" y="475488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niveau débutant à intermédiaire, langage par langage.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7920" y="393192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4F8EE"/>
          </a:solidFill>
          <a:ln w="12700">
            <a:solidFill>
              <a:srgbClr val="E8EDE0"/>
            </a:solidFill>
            <a:prstDash val="solid"/>
          </a:ln>
          <a:effectLst>
            <a:outerShdw sx="100000" sy="100000" kx="0" ky="0" algn="bl" rotWithShape="0" blurRad="76200" dist="25400" dir="5400000">
              <a:srgbClr val="C9D2BC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4251960"/>
            <a:ext cx="914400" cy="914400"/>
          </a:xfrm>
          <a:prstGeom prst="ellipse">
            <a:avLst/>
          </a:prstGeom>
          <a:solidFill>
            <a:srgbClr val="58CC02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4315968"/>
            <a:ext cx="914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📱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7680960" y="4251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1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 seule base de code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680960" y="475488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et iOS avec .NET MAUI.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CC0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SOUS LE CAPOT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technique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8EDE0"/>
            </a:solidFill>
            <a:prstDash val="solid"/>
          </a:ln>
          <a:effectLst>
            <a:outerShdw sx="100000" sy="100000" kx="0" ky="0" algn="bl" rotWithShape="0" blurRad="76200" dist="25400" dir="5400000">
              <a:srgbClr val="C9D2BC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11680"/>
            <a:ext cx="777240" cy="777240"/>
          </a:xfrm>
          <a:prstGeom prst="ellipse">
            <a:avLst/>
          </a:prstGeom>
          <a:solidFill>
            <a:srgbClr val="58CC0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66544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📱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920240" y="196596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1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 .NET MAUI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920240" y="2423160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C# multiplateforme. Consomme l’API, stocke le jeton JWT en SecureStorage.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3035808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FAFAF"/>
                </a:solidFill>
              </a:rPr>
              <a:t>▼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4612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8EDE0"/>
            </a:solidFill>
            <a:prstDash val="solid"/>
          </a:ln>
          <a:effectLst>
            <a:outerShdw sx="100000" sy="100000" kx="0" ky="0" algn="bl" rotWithShape="0" blurRad="76200" dist="25400" dir="5400000">
              <a:srgbClr val="C9D2BC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520440"/>
            <a:ext cx="777240" cy="777240"/>
          </a:xfrm>
          <a:prstGeom prst="ellipse">
            <a:avLst/>
          </a:prstGeom>
          <a:solidFill>
            <a:srgbClr val="1CB0F6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575304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🔌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920240" y="347472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1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REST — Node.js / Express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920240" y="3931920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JWT, leçons, progression, classement, défis.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4544568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FAFAF"/>
                </a:solidFill>
              </a:rPr>
              <a:t>▼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75488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8EDE0"/>
            </a:solidFill>
            <a:prstDash val="solid"/>
          </a:ln>
          <a:effectLst>
            <a:outerShdw sx="100000" sy="100000" kx="0" ky="0" algn="bl" rotWithShape="0" blurRad="76200" dist="25400" dir="5400000">
              <a:srgbClr val="C9D2BC">
                <a:alpha val="5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5029200"/>
            <a:ext cx="777240" cy="777240"/>
          </a:xfrm>
          <a:prstGeom prst="ellipse">
            <a:avLst/>
          </a:prstGeom>
          <a:solidFill>
            <a:srgbClr val="FF9600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084064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🗄️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920240" y="498348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1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de données — MongoDB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1920240" y="5440680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Utilisateurs, langages, chapitres, leçons, exercices, progression.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CC0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4F8EE"/>
          </a:solidFill>
          <a:ln w="12700">
            <a:solidFill>
              <a:srgbClr val="E8EDE0"/>
            </a:solidFill>
            <a:prstDash val="solid"/>
          </a:ln>
          <a:effectLst>
            <a:outerShdw sx="100000" sy="100000" kx="0" ky="0" algn="bl" rotWithShape="0" blurRad="76200" dist="25400" dir="5400000">
              <a:srgbClr val="C9D2BC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33172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7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.NET MAUI 9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97180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mobile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25112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4F8EE"/>
          </a:solidFill>
          <a:ln w="12700">
            <a:solidFill>
              <a:srgbClr val="E8EDE0"/>
            </a:solidFill>
            <a:prstDash val="solid"/>
          </a:ln>
          <a:effectLst>
            <a:outerShdw sx="100000" sy="100000" kx="0" ky="0" algn="bl" rotWithShape="0" blurRad="76200" dist="25400" dir="5400000">
              <a:srgbClr val="C9D2BC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07992" y="233172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7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C# / .NET 9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07992" y="297180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Langage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01584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4F8EE"/>
          </a:solidFill>
          <a:ln w="12700">
            <a:solidFill>
              <a:srgbClr val="E8EDE0"/>
            </a:solidFill>
            <a:prstDash val="solid"/>
          </a:ln>
          <a:effectLst>
            <a:outerShdw sx="100000" sy="100000" kx="0" ky="0" algn="bl" rotWithShape="0" blurRad="76200" dist="25400" dir="5400000">
              <a:srgbClr val="C9D2BC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84464" y="233172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7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Node.js + Express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84464" y="297180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4F8EE"/>
          </a:solidFill>
          <a:ln w="12700">
            <a:solidFill>
              <a:srgbClr val="E8EDE0"/>
            </a:solidFill>
            <a:prstDash val="solid"/>
          </a:ln>
          <a:effectLst>
            <a:outerShdw sx="100000" sy="100000" kx="0" ky="0" algn="bl" rotWithShape="0" blurRad="76200" dist="25400" dir="5400000">
              <a:srgbClr val="C9D2BC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4348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7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MongoDB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31520" y="50749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25112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4F8EE"/>
          </a:solidFill>
          <a:ln w="12700">
            <a:solidFill>
              <a:srgbClr val="E8EDE0"/>
            </a:solidFill>
            <a:prstDash val="solid"/>
          </a:ln>
          <a:effectLst>
            <a:outerShdw sx="100000" sy="100000" kx="0" ky="0" algn="bl" rotWithShape="0" blurRad="76200" dist="25400" dir="5400000">
              <a:srgbClr val="C9D2BC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07992" y="44348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7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JWT + bcrypt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507992" y="50749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01584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4F8EE"/>
          </a:solidFill>
          <a:ln w="12700">
            <a:solidFill>
              <a:srgbClr val="E8EDE0"/>
            </a:solidFill>
            <a:prstDash val="solid"/>
          </a:ln>
          <a:effectLst>
            <a:outerShdw sx="100000" sy="100000" kx="0" ky="0" algn="bl" rotWithShape="0" blurRad="76200" dist="25400" dir="5400000">
              <a:srgbClr val="C9D2BC">
                <a:alpha val="5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84464" y="44348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7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Android / iOS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284464" y="50749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CC0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 QUE FAIT L’APP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Fonctionnalités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8EDE0"/>
            </a:solidFill>
            <a:prstDash val="solid"/>
          </a:ln>
          <a:effectLst>
            <a:outerShdw sx="100000" sy="100000" kx="0" ky="0" algn="bl" rotWithShape="0" blurRad="76200" dist="25400" dir="5400000">
              <a:srgbClr val="C9D2BC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57400"/>
            <a:ext cx="777240" cy="777240"/>
          </a:xfrm>
          <a:prstGeom prst="ellipse">
            <a:avLst/>
          </a:prstGeom>
          <a:solidFill>
            <a:srgbClr val="F4F8E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121408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🔐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77240" y="28803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Authentification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Inscription / connexion JWT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25112" y="178308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8EDE0"/>
            </a:solidFill>
            <a:prstDash val="solid"/>
          </a:ln>
          <a:effectLst>
            <a:outerShdw sx="100000" sy="100000" kx="0" ky="0" algn="bl" rotWithShape="0" blurRad="76200" dist="25400" dir="5400000">
              <a:srgbClr val="C9D2BC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9432" y="2057400"/>
            <a:ext cx="777240" cy="777240"/>
          </a:xfrm>
          <a:prstGeom prst="ellipse">
            <a:avLst/>
          </a:prstGeom>
          <a:solidFill>
            <a:srgbClr val="F4F8EE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2121408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🗺️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53712" y="28803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Parcours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53712" y="32461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Chapitres &amp; leçons en zig-zag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01584" y="178308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8EDE0"/>
            </a:solidFill>
            <a:prstDash val="solid"/>
          </a:ln>
          <a:effectLst>
            <a:outerShdw sx="100000" sy="100000" kx="0" ky="0" algn="bl" rotWithShape="0" blurRad="76200" dist="25400" dir="5400000">
              <a:srgbClr val="C9D2BC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5904" y="2057400"/>
            <a:ext cx="777240" cy="777240"/>
          </a:xfrm>
          <a:prstGeom prst="ellipse">
            <a:avLst/>
          </a:prstGeom>
          <a:solidFill>
            <a:srgbClr val="F4F8EE"/>
          </a:solidFill>
          <a:ln/>
        </p:spPr>
      </p:sp>
      <p:sp>
        <p:nvSpPr>
          <p:cNvPr id="16" name="Text 14"/>
          <p:cNvSpPr/>
          <p:nvPr/>
        </p:nvSpPr>
        <p:spPr>
          <a:xfrm>
            <a:off x="8375904" y="2121408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✏️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330184" y="28803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types d’exercices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30184" y="32461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QCM, vrai/faux, code à trous, remise en ordre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02336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8EDE0"/>
            </a:solidFill>
            <a:prstDash val="solid"/>
          </a:ln>
          <a:effectLst>
            <a:outerShdw sx="100000" sy="100000" kx="0" ky="0" algn="bl" rotWithShape="0" blurRad="76200" dist="25400" dir="5400000">
              <a:srgbClr val="C9D2BC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" y="4297680"/>
            <a:ext cx="777240" cy="777240"/>
          </a:xfrm>
          <a:prstGeom prst="ellipse">
            <a:avLst/>
          </a:prstGeom>
          <a:solidFill>
            <a:srgbClr val="F4F8EE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361688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🏆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77240" y="5120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Gamification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77240" y="54864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XP, niveaux, séries, cœurs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25112" y="402336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8EDE0"/>
            </a:solidFill>
            <a:prstDash val="solid"/>
          </a:ln>
          <a:effectLst>
            <a:outerShdw sx="100000" sy="100000" kx="0" ky="0" algn="bl" rotWithShape="0" blurRad="76200" dist="25400" dir="5400000">
              <a:srgbClr val="C9D2BC">
                <a:alpha val="5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99432" y="4297680"/>
            <a:ext cx="777240" cy="777240"/>
          </a:xfrm>
          <a:prstGeom prst="ellipse">
            <a:avLst/>
          </a:prstGeom>
          <a:solidFill>
            <a:srgbClr val="F4F8EE"/>
          </a:solidFill>
          <a:ln/>
        </p:spPr>
      </p:sp>
      <p:sp>
        <p:nvSpPr>
          <p:cNvPr id="26" name="Text 24"/>
          <p:cNvSpPr/>
          <p:nvPr/>
        </p:nvSpPr>
        <p:spPr>
          <a:xfrm>
            <a:off x="4599432" y="4361688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4553712" y="5120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Défi du jour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553712" y="54864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défi quotidien bonus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101584" y="402336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8EDE0"/>
            </a:solidFill>
            <a:prstDash val="solid"/>
          </a:ln>
          <a:effectLst>
            <a:outerShdw sx="100000" sy="100000" kx="0" ky="0" algn="bl" rotWithShape="0" blurRad="76200" dist="25400" dir="5400000">
              <a:srgbClr val="C9D2BC">
                <a:alpha val="5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75904" y="4297680"/>
            <a:ext cx="777240" cy="777240"/>
          </a:xfrm>
          <a:prstGeom prst="ellipse">
            <a:avLst/>
          </a:prstGeom>
          <a:solidFill>
            <a:srgbClr val="F4F8EE"/>
          </a:solidFill>
          <a:ln/>
        </p:spPr>
      </p:sp>
      <p:sp>
        <p:nvSpPr>
          <p:cNvPr id="31" name="Text 29"/>
          <p:cNvSpPr/>
          <p:nvPr/>
        </p:nvSpPr>
        <p:spPr>
          <a:xfrm>
            <a:off x="8375904" y="4361688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8330184" y="5120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Classement &amp; profil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330184" y="54864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Compétition et suivi des succès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CC0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 CŒUR DES LEÇONS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Quatre types d’exercices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1860804" cy="4023360"/>
          </a:xfrm>
          <a:prstGeom prst="roundRect">
            <a:avLst>
              <a:gd name="adj" fmla="val 5897"/>
            </a:avLst>
          </a:prstGeom>
          <a:solidFill>
            <a:srgbClr val="131F0E"/>
          </a:solidFill>
          <a:ln/>
          <a:effectLst>
            <a:outerShdw sx="100000" sy="100000" kx="0" ky="0" algn="bl" rotWithShape="0" blurRad="101600" dist="38100" dir="5400000">
              <a:srgbClr val="9AA791">
                <a:alpha val="50000"/>
              </a:srgbClr>
            </a:outerShdw>
          </a:effectLst>
        </p:spPr>
      </p:sp>
      <p:pic>
        <p:nvPicPr>
          <p:cNvPr id="5" name="Image 0" descr="/Users/invite/Desktop/Duodingo/docs/screens/small/06_lesson_q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00200"/>
            <a:ext cx="1769364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7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QCM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639312" y="1554480"/>
            <a:ext cx="1860804" cy="4023360"/>
          </a:xfrm>
          <a:prstGeom prst="roundRect">
            <a:avLst>
              <a:gd name="adj" fmla="val 5897"/>
            </a:avLst>
          </a:prstGeom>
          <a:solidFill>
            <a:srgbClr val="131F0E"/>
          </a:solidFill>
          <a:ln/>
          <a:effectLst>
            <a:outerShdw sx="100000" sy="100000" kx="0" ky="0" algn="bl" rotWithShape="0" blurRad="101600" dist="38100" dir="5400000">
              <a:srgbClr val="9AA791">
                <a:alpha val="50000"/>
              </a:srgbClr>
            </a:outerShdw>
          </a:effectLst>
        </p:spPr>
      </p:sp>
      <p:pic>
        <p:nvPicPr>
          <p:cNvPr id="8" name="Image 1" descr="/Users/invite/Desktop/Duodingo/docs/screens/small/10_truefal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5032" y="1600200"/>
            <a:ext cx="1769364" cy="3931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502152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7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Vrai / Faux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547104" y="1554480"/>
            <a:ext cx="1860804" cy="4023360"/>
          </a:xfrm>
          <a:prstGeom prst="roundRect">
            <a:avLst>
              <a:gd name="adj" fmla="val 5897"/>
            </a:avLst>
          </a:prstGeom>
          <a:solidFill>
            <a:srgbClr val="131F0E"/>
          </a:solidFill>
          <a:ln/>
          <a:effectLst>
            <a:outerShdw sx="100000" sy="100000" kx="0" ky="0" algn="bl" rotWithShape="0" blurRad="101600" dist="38100" dir="5400000">
              <a:srgbClr val="9AA791">
                <a:alpha val="50000"/>
              </a:srgbClr>
            </a:outerShdw>
          </a:effectLst>
        </p:spPr>
      </p:sp>
      <p:pic>
        <p:nvPicPr>
          <p:cNvPr id="11" name="Image 2" descr="/Users/invite/Desktop/Duodingo/docs/screens/small/09_lesson_fill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4" y="1600200"/>
            <a:ext cx="1769364" cy="39319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409944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7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Compléter le code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9454896" y="1554480"/>
            <a:ext cx="1860804" cy="4023360"/>
          </a:xfrm>
          <a:prstGeom prst="roundRect">
            <a:avLst>
              <a:gd name="adj" fmla="val 5897"/>
            </a:avLst>
          </a:prstGeom>
          <a:solidFill>
            <a:srgbClr val="131F0E"/>
          </a:solidFill>
          <a:ln/>
          <a:effectLst>
            <a:outerShdw sx="100000" sy="100000" kx="0" ky="0" algn="bl" rotWithShape="0" blurRad="101600" dist="38100" dir="5400000">
              <a:srgbClr val="9AA791">
                <a:alpha val="50000"/>
              </a:srgbClr>
            </a:outerShdw>
          </a:effectLst>
        </p:spPr>
      </p:sp>
      <p:pic>
        <p:nvPicPr>
          <p:cNvPr id="14" name="Image 3" descr="/Users/invite/Desktop/Duodingo/docs/screens/small/12_ordercode_assembl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0616" y="1600200"/>
            <a:ext cx="1769364" cy="39319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317736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7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Remettre dans l’ordre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CC0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GAMIFICATION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mécanique qui rend addictif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1C2E14"/>
          </a:solidFill>
          <a:ln w="12700">
            <a:solidFill>
              <a:srgbClr val="3248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317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⭐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2194560" y="21945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C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XP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194560" y="278892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DE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Gagnés à chaque leçon réussie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1C2E14"/>
          </a:solidFill>
          <a:ln w="12700">
            <a:solidFill>
              <a:srgbClr val="3248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23317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🏆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7863840" y="21945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8CC0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Niveaux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863840" y="278892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DE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nouveau niveau tous les 100 XP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1C2E14"/>
          </a:solidFill>
          <a:ln w="12700">
            <a:solidFill>
              <a:srgbClr val="3248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52628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🔥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2194560" y="438912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9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Séries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194560" y="498348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DE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Jours consécutifs de pratique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402336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1C2E14"/>
          </a:solidFill>
          <a:ln w="12700">
            <a:solidFill>
              <a:srgbClr val="3248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52628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❤️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7863840" y="438912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4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Cœurs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7863840" y="498348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DE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max — une erreur en coûte un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CC0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CAPTURES RÉELLES · ÉMULATEUR ANDROID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Démo — Connexion &amp; parcours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234440" y="1554480"/>
            <a:ext cx="1943100" cy="4206240"/>
          </a:xfrm>
          <a:prstGeom prst="roundRect">
            <a:avLst>
              <a:gd name="adj" fmla="val 5647"/>
            </a:avLst>
          </a:prstGeom>
          <a:solidFill>
            <a:srgbClr val="131F0E"/>
          </a:solidFill>
          <a:ln/>
          <a:effectLst>
            <a:outerShdw sx="100000" sy="100000" kx="0" ky="0" algn="bl" rotWithShape="0" blurRad="101600" dist="38100" dir="5400000">
              <a:srgbClr val="9AA791">
                <a:alpha val="50000"/>
              </a:srgbClr>
            </a:outerShdw>
          </a:effectLst>
        </p:spPr>
      </p:sp>
      <p:pic>
        <p:nvPicPr>
          <p:cNvPr id="5" name="Image 0" descr="/Users/invite/Desktop/Duodingo/docs/screens/small/00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600200"/>
            <a:ext cx="185166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580644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7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Connexion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892040" y="1554480"/>
            <a:ext cx="1943100" cy="4206240"/>
          </a:xfrm>
          <a:prstGeom prst="roundRect">
            <a:avLst>
              <a:gd name="adj" fmla="val 5647"/>
            </a:avLst>
          </a:prstGeom>
          <a:solidFill>
            <a:srgbClr val="131F0E"/>
          </a:solidFill>
          <a:ln/>
          <a:effectLst>
            <a:outerShdw sx="100000" sy="100000" kx="0" ky="0" algn="bl" rotWithShape="0" blurRad="101600" dist="38100" dir="5400000">
              <a:srgbClr val="9AA791">
                <a:alpha val="50000"/>
              </a:srgbClr>
            </a:outerShdw>
          </a:effectLst>
        </p:spPr>
      </p:sp>
      <p:pic>
        <p:nvPicPr>
          <p:cNvPr id="8" name="Image 1" descr="/Users/invite/Desktop/Duodingo/docs/screens/small/03_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00200"/>
            <a:ext cx="1851660" cy="41148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0" y="580644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7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Choix du langage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8549640" y="1554480"/>
            <a:ext cx="1943100" cy="4206240"/>
          </a:xfrm>
          <a:prstGeom prst="roundRect">
            <a:avLst>
              <a:gd name="adj" fmla="val 5647"/>
            </a:avLst>
          </a:prstGeom>
          <a:solidFill>
            <a:srgbClr val="131F0E"/>
          </a:solidFill>
          <a:ln/>
          <a:effectLst>
            <a:outerShdw sx="100000" sy="100000" kx="0" ky="0" algn="bl" rotWithShape="0" blurRad="101600" dist="38100" dir="5400000">
              <a:srgbClr val="9AA791">
                <a:alpha val="50000"/>
              </a:srgbClr>
            </a:outerShdw>
          </a:effectLst>
        </p:spPr>
      </p:sp>
      <p:pic>
        <p:nvPicPr>
          <p:cNvPr id="11" name="Image 2" descr="/Users/invite/Desktop/Duodingo/docs/screens/small/04_path_j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00200"/>
            <a:ext cx="1851660" cy="41148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29600" y="580644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7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Parcours JavaScript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CC0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CAPTURES RÉELLES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Démo — Une leçon de A à Z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234440" y="1554480"/>
            <a:ext cx="1943100" cy="4206240"/>
          </a:xfrm>
          <a:prstGeom prst="roundRect">
            <a:avLst>
              <a:gd name="adj" fmla="val 5647"/>
            </a:avLst>
          </a:prstGeom>
          <a:solidFill>
            <a:srgbClr val="131F0E"/>
          </a:solidFill>
          <a:ln/>
          <a:effectLst>
            <a:outerShdw sx="100000" sy="100000" kx="0" ky="0" algn="bl" rotWithShape="0" blurRad="101600" dist="38100" dir="5400000">
              <a:srgbClr val="9AA791">
                <a:alpha val="50000"/>
              </a:srgbClr>
            </a:outerShdw>
          </a:effectLst>
        </p:spPr>
      </p:sp>
      <p:pic>
        <p:nvPicPr>
          <p:cNvPr id="5" name="Image 0" descr="/Users/invite/Desktop/Duodingo/docs/screens/small/06_lesson_q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600200"/>
            <a:ext cx="185166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580644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7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892040" y="1554480"/>
            <a:ext cx="1943100" cy="4206240"/>
          </a:xfrm>
          <a:prstGeom prst="roundRect">
            <a:avLst>
              <a:gd name="adj" fmla="val 5647"/>
            </a:avLst>
          </a:prstGeom>
          <a:solidFill>
            <a:srgbClr val="131F0E"/>
          </a:solidFill>
          <a:ln/>
          <a:effectLst>
            <a:outerShdw sx="100000" sy="100000" kx="0" ky="0" algn="bl" rotWithShape="0" blurRad="101600" dist="38100" dir="5400000">
              <a:srgbClr val="9AA791">
                <a:alpha val="50000"/>
              </a:srgbClr>
            </a:outerShdw>
          </a:effectLst>
        </p:spPr>
      </p:sp>
      <p:pic>
        <p:nvPicPr>
          <p:cNvPr id="8" name="Image 1" descr="/Users/invite/Desktop/Duodingo/docs/screens/small/08_lesson_corre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00200"/>
            <a:ext cx="1851660" cy="41148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0" y="580644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7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Bonne réponse + explication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8549640" y="1554480"/>
            <a:ext cx="1943100" cy="4206240"/>
          </a:xfrm>
          <a:prstGeom prst="roundRect">
            <a:avLst>
              <a:gd name="adj" fmla="val 5647"/>
            </a:avLst>
          </a:prstGeom>
          <a:solidFill>
            <a:srgbClr val="131F0E"/>
          </a:solidFill>
          <a:ln/>
          <a:effectLst>
            <a:outerShdw sx="100000" sy="100000" kx="0" ky="0" algn="bl" rotWithShape="0" blurRad="101600" dist="38100" dir="5400000">
              <a:srgbClr val="9AA791">
                <a:alpha val="50000"/>
              </a:srgbClr>
            </a:outerShdw>
          </a:effectLst>
        </p:spPr>
      </p:sp>
      <p:pic>
        <p:nvPicPr>
          <p:cNvPr id="11" name="Image 2" descr="/Users/invite/Desktop/Duodingo/docs/screens/small/13_resu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00200"/>
            <a:ext cx="1851660" cy="41148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29600" y="580644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7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Résultat festif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CC0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CAPTURES RÉELLES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Démo — Défi, classement &amp; profil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234440" y="1554480"/>
            <a:ext cx="1943100" cy="4206240"/>
          </a:xfrm>
          <a:prstGeom prst="roundRect">
            <a:avLst>
              <a:gd name="adj" fmla="val 5647"/>
            </a:avLst>
          </a:prstGeom>
          <a:solidFill>
            <a:srgbClr val="131F0E"/>
          </a:solidFill>
          <a:ln/>
          <a:effectLst>
            <a:outerShdw sx="100000" sy="100000" kx="0" ky="0" algn="bl" rotWithShape="0" blurRad="101600" dist="38100" dir="5400000">
              <a:srgbClr val="9AA791">
                <a:alpha val="50000"/>
              </a:srgbClr>
            </a:outerShdw>
          </a:effectLst>
        </p:spPr>
      </p:sp>
      <p:pic>
        <p:nvPicPr>
          <p:cNvPr id="5" name="Image 0" descr="/Users/invite/Desktop/Duodingo/docs/screens/small/15_challenge_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600200"/>
            <a:ext cx="185166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580644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7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Défi du jour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892040" y="1554480"/>
            <a:ext cx="1943100" cy="4206240"/>
          </a:xfrm>
          <a:prstGeom prst="roundRect">
            <a:avLst>
              <a:gd name="adj" fmla="val 5647"/>
            </a:avLst>
          </a:prstGeom>
          <a:solidFill>
            <a:srgbClr val="131F0E"/>
          </a:solidFill>
          <a:ln/>
          <a:effectLst>
            <a:outerShdw sx="100000" sy="100000" kx="0" ky="0" algn="bl" rotWithShape="0" blurRad="101600" dist="38100" dir="5400000">
              <a:srgbClr val="9AA791">
                <a:alpha val="50000"/>
              </a:srgbClr>
            </a:outerShdw>
          </a:effectLst>
        </p:spPr>
      </p:sp>
      <p:pic>
        <p:nvPicPr>
          <p:cNvPr id="8" name="Image 1" descr="/Users/invite/Desktop/Duodingo/docs/screens/small/16_leader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00200"/>
            <a:ext cx="1851660" cy="41148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0" y="580644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7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Classement XP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8549640" y="1554480"/>
            <a:ext cx="1943100" cy="4206240"/>
          </a:xfrm>
          <a:prstGeom prst="roundRect">
            <a:avLst>
              <a:gd name="adj" fmla="val 5647"/>
            </a:avLst>
          </a:prstGeom>
          <a:solidFill>
            <a:srgbClr val="131F0E"/>
          </a:solidFill>
          <a:ln/>
          <a:effectLst>
            <a:outerShdw sx="100000" sy="100000" kx="0" ky="0" algn="bl" rotWithShape="0" blurRad="101600" dist="38100" dir="5400000">
              <a:srgbClr val="9AA791">
                <a:alpha val="50000"/>
              </a:srgbClr>
            </a:outerShdw>
          </a:effectLst>
        </p:spPr>
      </p:sp>
      <p:pic>
        <p:nvPicPr>
          <p:cNvPr id="11" name="Image 2" descr="/Users/invite/Desktop/Duodingo/docs/screens/small/17_prof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00200"/>
            <a:ext cx="1851660" cy="41148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29600" y="580644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7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Profil &amp; succès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CC0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RETOUR TECHNIQUE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Difficultés &amp; solutions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4F8EE"/>
          </a:solidFill>
          <a:ln w="12700">
            <a:solidFill>
              <a:srgbClr val="E8EDE0"/>
            </a:solidFill>
            <a:prstDash val="solid"/>
          </a:ln>
          <a:effectLst>
            <a:outerShdw sx="100000" sy="100000" kx="0" ky="0" algn="bl" rotWithShape="0" blurRad="76200" dist="25400" dir="5400000">
              <a:srgbClr val="C9D2BC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1168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4B4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933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!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9019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F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Trafic HTTP bloqué sur Android  —  </a:t>
            </a:r>
            <a:pPr indent="0" marL="0">
              <a:buNone/>
            </a:pPr>
            <a:r>
              <a:rPr lang="en-US" sz="15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Autorisation du cleartext (usesCleartextTraffic) pour le développement local.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4F8EE"/>
          </a:solidFill>
          <a:ln w="12700">
            <a:solidFill>
              <a:srgbClr val="E8EDE0"/>
            </a:solidFill>
            <a:prstDash val="solid"/>
          </a:ln>
          <a:effectLst>
            <a:outerShdw sx="100000" sy="100000" kx="0" ky="0" algn="bl" rotWithShape="0" blurRad="76200" dist="25400" dir="5400000">
              <a:srgbClr val="C9D2BC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15468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4B4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1363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!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30449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F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au backend depuis l’émulateur  —  </a:t>
            </a:r>
            <a:pPr indent="0" marL="0">
              <a:buNone/>
            </a:pPr>
            <a:r>
              <a:rPr lang="en-US" sz="15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L’émulateur joint l’hôte via 10.0.2.2 — URL d’API choisie selon la plateforme.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4F8EE"/>
          </a:solidFill>
          <a:ln w="12700">
            <a:solidFill>
              <a:srgbClr val="E8EDE0"/>
            </a:solidFill>
            <a:prstDash val="solid"/>
          </a:ln>
          <a:effectLst>
            <a:outerShdw sx="100000" sy="100000" kx="0" ky="0" algn="bl" rotWithShape="0" blurRad="76200" dist="25400" dir="5400000">
              <a:srgbClr val="C9D2BC">
                <a:alpha val="5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429768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4B4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2793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!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41879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F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Icônes Ionicons en base  —  </a:t>
            </a:r>
            <a:pPr indent="0" marL="0">
              <a:buNone/>
            </a:pPr>
            <a:r>
              <a:rPr lang="en-US" sz="15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de correspondance Ionicons → emojis pour l’affichage MAUI.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5166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4F8EE"/>
          </a:solidFill>
          <a:ln w="12700">
            <a:solidFill>
              <a:srgbClr val="E8EDE0"/>
            </a:solidFill>
            <a:prstDash val="solid"/>
          </a:ln>
          <a:effectLst>
            <a:outerShdw sx="100000" sy="100000" kx="0" ky="0" algn="bl" rotWithShape="0" blurRad="76200" dist="25400" dir="5400000">
              <a:srgbClr val="C9D2BC">
                <a:alpha val="5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77240" y="544068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4B4B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54223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!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53309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F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Réponses à format variable  —  </a:t>
            </a:r>
            <a:pPr indent="0" marL="0">
              <a:buNone/>
            </a:pPr>
            <a:r>
              <a:rPr lang="en-US" sz="150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correctAnswer en chaîne ou tableau — géré via JsonElement.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011680"/>
            <a:ext cx="5486400" cy="5486400"/>
          </a:xfrm>
          <a:prstGeom prst="ellipse">
            <a:avLst/>
          </a:prstGeom>
          <a:solidFill>
            <a:srgbClr val="1C2E1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2801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🦉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8CC0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7498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7F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Duodingo prouve qu’on peut transposer la gamification de Duolingo à l’apprentissage du code : une app .NET MAUI fluide, fidèle au design de référence et connectée à un vrai backend.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Perspectives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1206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DE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Notifications de rappel quotidien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0" y="51206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DE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 hors-ligne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55321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DE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Nouveaux types d’exercices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0" y="55321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DE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Ligues &amp; défis entre amis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63093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github.com/dayr20/Duodingo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Duodingo</dc:title>
  <dc:subject>PptxGenJS Presentation</dc:subject>
  <dc:creator>Ryad Senhadji</dc:creator>
  <cp:lastModifiedBy>Ryad Senhadji</cp:lastModifiedBy>
  <cp:revision>1</cp:revision>
  <dcterms:created xsi:type="dcterms:W3CDTF">2026-06-16T08:55:41Z</dcterms:created>
  <dcterms:modified xsi:type="dcterms:W3CDTF">2026-06-16T08:55:41Z</dcterms:modified>
</cp:coreProperties>
</file>