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C2E14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840480"/>
            <a:ext cx="5943600" cy="5943600"/>
          </a:xfrm>
          <a:prstGeom prst="ellipse">
            <a:avLst/>
          </a:prstGeom>
          <a:solidFill>
            <a:srgbClr val="1C2E1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🦉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Duodingo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Apprends à coder, une leçon à la fois.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.NET MAUI  ·  inspirée de Duolingo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Ryad Senhadji   ·   16 juin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concept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a rendu l’apprentissage des langues </a:t>
            </a:r>
            <a:pPr indent="0" marL="0">
              <a:buNone/>
            </a:pPr>
            <a:r>
              <a:rPr lang="en-US" sz="2000" b="1" dirty="0">
                <a:solidFill>
                  <a:srgbClr val="3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addictif</a:t>
            </a:r>
            <a:pPr indent="0" marL="0">
              <a:buNone/>
            </a:pPr>
            <a:r>
              <a:rPr lang="en-US" sz="20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grâce à la gamification.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Duodingo applique la même recette à l’apprentissage du code : des leçons courtes, interactives et récompensées, qui transforment la programmation en jeu quotidien.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1051560" cy="1188720"/>
          </a:xfrm>
          <a:prstGeom prst="roundRect">
            <a:avLst>
              <a:gd name="adj" fmla="val 8696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434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55648" y="4206240"/>
            <a:ext cx="1051560" cy="1188720"/>
          </a:xfrm>
          <a:prstGeom prst="roundRect">
            <a:avLst>
              <a:gd name="adj" fmla="val 8696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43434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🐍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55648" y="49834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62656" y="4206240"/>
            <a:ext cx="1051560" cy="1188720"/>
          </a:xfrm>
          <a:prstGeom prst="roundRect">
            <a:avLst>
              <a:gd name="adj" fmla="val 8696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43434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62656" y="49834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9664" y="4206240"/>
            <a:ext cx="1051560" cy="1188720"/>
          </a:xfrm>
          <a:prstGeom prst="roundRect">
            <a:avLst>
              <a:gd name="adj" fmla="val 8696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43434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169664" y="49834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76672" y="4206240"/>
            <a:ext cx="1051560" cy="1188720"/>
          </a:xfrm>
          <a:prstGeom prst="roundRect">
            <a:avLst>
              <a:gd name="adj" fmla="val 8696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43434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🔷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376672" y="49834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1051560"/>
            <a:ext cx="2395728" cy="5212080"/>
          </a:xfrm>
          <a:prstGeom prst="roundRect">
            <a:avLst>
              <a:gd name="adj" fmla="val 4580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22" name="Image 0" descr="/Users/invite/Desktop/Duodingo/docs/screens/small/03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097280"/>
            <a:ext cx="230428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 aux débutants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2560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prérequis : on apprend en jouant.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57400"/>
            <a:ext cx="914400" cy="9144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2140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8096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Motiver la pratique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560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Séries, XP et défis quotidiens pour revenir chaque jour.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51960"/>
            <a:ext cx="914400" cy="9144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1596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1168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Progression structurée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4754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niveau débutant à intermédiaire, langage par langage.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51960"/>
            <a:ext cx="914400" cy="9144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1596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6809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seule base de code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80960" y="4754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et iOS avec .NET MAUI.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 LE CAPOT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66544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.NET MAUI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C# multiplateforme. Consomme l’API, stocke le jeton JWT en SecureStorage.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0358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AFAF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20440"/>
            <a:ext cx="777240" cy="777240"/>
          </a:xfrm>
          <a:prstGeom prst="ellipse">
            <a:avLst/>
          </a:prstGeom>
          <a:solidFill>
            <a:srgbClr val="1CB0F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75304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20240" y="3474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REST — Node.js / Express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20240" y="39319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JWT, leçons, progression, classement, défis.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5445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AFAF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029200"/>
            <a:ext cx="777240" cy="777240"/>
          </a:xfrm>
          <a:prstGeom prst="ellipse">
            <a:avLst/>
          </a:prstGeom>
          <a:solidFill>
            <a:srgbClr val="FF96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84064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20240" y="4983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données — MongoDB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920240" y="54406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Utilisateurs, langages, chapitres, leçons, exercices, progression.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317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.NET MAUI 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mobile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5112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23317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 / .NET 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07992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1584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23317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Express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84464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434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5112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4434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+ bcrypt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07992" y="5074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01584" y="40233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84464" y="4434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/ iOS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84464" y="5074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FAIT L’APP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4F8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 JWT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57400"/>
            <a:ext cx="777240" cy="777240"/>
          </a:xfrm>
          <a:prstGeom prst="ellipse">
            <a:avLst/>
          </a:prstGeom>
          <a:solidFill>
            <a:srgbClr val="F4F8EE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2140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53712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Parcours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&amp; leçons en zig-zag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57400"/>
            <a:ext cx="777240" cy="777240"/>
          </a:xfrm>
          <a:prstGeom prst="ellipse">
            <a:avLst/>
          </a:prstGeom>
          <a:solidFill>
            <a:srgbClr val="F4F8EE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2140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30184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types d’exercices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QCM, vrai/faux, code à trous, remise en ordre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F4F8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6168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7240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niveaux, séries, cœurs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297680"/>
            <a:ext cx="777240" cy="777240"/>
          </a:xfrm>
          <a:prstGeom prst="ellipse">
            <a:avLst/>
          </a:prstGeom>
          <a:solidFill>
            <a:srgbClr val="F4F8EE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36168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53712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 du jour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53712" y="5486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défi quotidien bonus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1584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5904" y="4297680"/>
            <a:ext cx="777240" cy="777240"/>
          </a:xfrm>
          <a:prstGeom prst="ellipse">
            <a:avLst/>
          </a:prstGeom>
          <a:solidFill>
            <a:srgbClr val="F4F8EE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36168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330184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Classement &amp; profil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0184" y="5486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Compétition et suivi des succès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CŒUR DES LEÇONS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Quatre types d’exercices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60804" cy="4023360"/>
          </a:xfrm>
          <a:prstGeom prst="roundRect">
            <a:avLst>
              <a:gd name="adj" fmla="val 589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5" name="Image 0" descr="/Users/invite/Desktop/Duodingo/docs/screens/small/06_lesson_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1769364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39312" y="1554480"/>
            <a:ext cx="1860804" cy="4023360"/>
          </a:xfrm>
          <a:prstGeom prst="roundRect">
            <a:avLst>
              <a:gd name="adj" fmla="val 589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8" name="Image 1" descr="/Users/invite/Desktop/Duodingo/docs/screens/small/10_truefal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600200"/>
            <a:ext cx="1769364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02152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Vrai / Faux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547104" y="1554480"/>
            <a:ext cx="1860804" cy="4023360"/>
          </a:xfrm>
          <a:prstGeom prst="roundRect">
            <a:avLst>
              <a:gd name="adj" fmla="val 589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11" name="Image 2" descr="/Users/invite/Desktop/Duodingo/docs/screens/small/09_lesson_fill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600200"/>
            <a:ext cx="1769364" cy="3931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9944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Compléter le code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454896" y="1554480"/>
            <a:ext cx="1860804" cy="4023360"/>
          </a:xfrm>
          <a:prstGeom prst="roundRect">
            <a:avLst>
              <a:gd name="adj" fmla="val 589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14" name="Image 3" descr="/Users/invite/Desktop/Duodingo/docs/screens/small/12_ordercode_assembl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1600200"/>
            <a:ext cx="1769364" cy="3931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17736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Remettre dans l’ordre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mécanique qui rend addictif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C2E14"/>
          </a:solidFill>
          <a:ln w="12700">
            <a:solidFill>
              <a:srgbClr val="3248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⭐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19456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4560" y="2788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Gagnés à chaque leçon réussie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C2E14"/>
          </a:solidFill>
          <a:ln w="12700">
            <a:solidFill>
              <a:srgbClr val="3248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331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🏆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86384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Niveaux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63840" y="2788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niveau tous les 100 XP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C2E14"/>
          </a:solidFill>
          <a:ln w="12700">
            <a:solidFill>
              <a:srgbClr val="3248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26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🔥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19456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Séries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94560" y="4983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consécutifs de pratique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C2E14"/>
          </a:solidFill>
          <a:ln w="12700">
            <a:solidFill>
              <a:srgbClr val="3248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526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❤️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86384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Cœurs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863840" y="4983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max — une erreur en coûte un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RÉELLES · ÉMULATEUR ANDROID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— Connexion &amp; parcours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5" name="Image 0" descr="/Users/invite/Desktop/Duodingo/docs/screens/small/00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00200"/>
            <a:ext cx="18516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Connexion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920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8" name="Image 1" descr="/Users/invite/Desktop/Duodingo/docs/screens/small/03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1851660" cy="411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du langage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496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11" name="Image 2" descr="/Users/invite/Desktop/Duodingo/docs/screens/small/04_path_j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00200"/>
            <a:ext cx="1851660" cy="411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Parcours JavaScript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RÉELLES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— Une leçon de A à 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5" name="Image 0" descr="/Users/invite/Desktop/Duodingo/docs/screens/small/06_lesson_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00200"/>
            <a:ext cx="18516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920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8" name="Image 1" descr="/Users/invite/Desktop/Duodingo/docs/screens/small/08_lesson_corr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1851660" cy="411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Bonne réponse + explication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496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11" name="Image 2" descr="/Users/invite/Desktop/Duodingo/docs/screens/small/13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00200"/>
            <a:ext cx="1851660" cy="411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 festif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RÉELLES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— Défi, classement &amp; profil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5" name="Image 0" descr="/Users/invite/Desktop/Duodingo/docs/screens/small/15_challenge_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00200"/>
            <a:ext cx="18516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 du jour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920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8" name="Image 1" descr="/Users/invite/Desktop/Duodingo/docs/screens/small/16_leader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1851660" cy="411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Classement XP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49640" y="1554480"/>
            <a:ext cx="1943100" cy="4206240"/>
          </a:xfrm>
          <a:prstGeom prst="roundRect">
            <a:avLst>
              <a:gd name="adj" fmla="val 5647"/>
            </a:avLst>
          </a:prstGeom>
          <a:solidFill>
            <a:srgbClr val="131F0E"/>
          </a:solidFill>
          <a:ln/>
          <a:effectLst>
            <a:outerShdw sx="100000" sy="100000" kx="0" ky="0" algn="bl" rotWithShape="0" blurRad="101600" dist="38100" dir="5400000">
              <a:srgbClr val="9AA791">
                <a:alpha val="50000"/>
              </a:srgbClr>
            </a:outerShdw>
          </a:effectLst>
        </p:spPr>
      </p:sp>
      <p:pic>
        <p:nvPicPr>
          <p:cNvPr id="11" name="Image 2" descr="/Users/invite/Desktop/Duodingo/docs/screens/small/17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00200"/>
            <a:ext cx="1851660" cy="411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5806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&amp; succès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RECETTE FONCTIONNELLE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&amp;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 manuels réalisés sur émulateur Android (Pixel 7) connecté au backend Node.js et à MongoDB réels — chaque parcours a été déroulé de bout en bout.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03704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connexion (JWT)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057400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203704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des langages &amp; parcours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0" y="2057400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43784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990088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84378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— bonne et mauvaise réponse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843784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843784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2990088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284378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/ Faux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0" y="2843784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630168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776472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63016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le code (code à trous)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363016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630168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3776472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363016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Remettre le code dans l’ordre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789920" y="363016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416552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4562856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0160" y="44165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d’un cœur sur erreur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20640" y="4416552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4416552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088" y="4562856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9440" y="44165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leçon : gain d’XP &amp; succès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789920" y="4416552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5202936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" y="5349240"/>
            <a:ext cx="365760" cy="36576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5321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80160" y="520293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jour, classement &amp; profil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20640" y="5202936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— parcours validé de bout en bout · 17 captures réelles · compte de test à 85 XP avec succès débloqués.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RETOUR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Difficultés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4B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HTTP bloqué sur Android  —  </a:t>
            </a:r>
            <a:pPr indent="0" marL="0">
              <a:buNone/>
            </a:pPr>
            <a:r>
              <a:rPr lang="en-US" sz="15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du cleartext (usesCleartextTraffic) pour le développement local.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154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4B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449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backend depuis l’émulateur  —  </a:t>
            </a:r>
            <a:pPr indent="0" marL="0">
              <a:buNone/>
            </a:pPr>
            <a:r>
              <a:rPr lang="en-US" sz="15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L’émulateur joint l’hôte via 10.0.2.2 — URL d’API choisie selon la plateforme.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297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4B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9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879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Ionicons en base  —  </a:t>
            </a:r>
            <a:pPr indent="0" marL="0">
              <a:buNone/>
            </a:pPr>
            <a:r>
              <a:rPr lang="en-US" sz="15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correspondance Ionicons → emojis pour l’affichage MAUI.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4F8EE"/>
          </a:solidFill>
          <a:ln w="12700">
            <a:solidFill>
              <a:srgbClr val="E8EDE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BC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440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4B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422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3309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à format variable  —  </a:t>
            </a:r>
            <a:pPr indent="0" marL="0">
              <a:buNone/>
            </a:pPr>
            <a:r>
              <a:rPr lang="en-US" sz="1500" dirty="0">
                <a:solidFill>
                  <a:srgbClr val="4B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correctAnswer en chaîne ou tableau — géré via JsonElement.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2E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🦉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8CC0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Duodingo prouve qu’on peut transposer la gamification de Duolingo à l’apprentissage du code : une app .NET MAUI fluide, fidèle au design de référence et connectée à un vrai backend.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de rappel quotidien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hors-ligne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Nouveaux types d’exercices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Ligues &amp; défis entre amis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github.com/dayr20/Duodingo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Duodingo</dc:title>
  <dc:subject>PptxGenJS Presentation</dc:subject>
  <dc:creator>Ryad Senhadji</dc:creator>
  <cp:lastModifiedBy>Ryad Senhadji</cp:lastModifiedBy>
  <cp:revision>1</cp:revision>
  <dcterms:created xsi:type="dcterms:W3CDTF">2026-06-17T10:08:05Z</dcterms:created>
  <dcterms:modified xsi:type="dcterms:W3CDTF">2026-06-17T10:08:05Z</dcterms:modified>
</cp:coreProperties>
</file>